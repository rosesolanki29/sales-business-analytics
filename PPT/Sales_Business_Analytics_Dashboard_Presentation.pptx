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9.png"/><Relationship Id="rId11" Type="http://schemas.openxmlformats.org/officeDocument/2006/relationships/image" Target="../media/image-2-9.png"/><Relationship Id="rId12" Type="http://schemas.openxmlformats.org/officeDocument/2006/relationships/image" Target="../media/image-2-9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1.png"/><Relationship Id="rId7" Type="http://schemas.openxmlformats.org/officeDocument/2006/relationships/image" Target="../media/image-4-7.png"/><Relationship Id="rId8" Type="http://schemas.openxmlformats.org/officeDocument/2006/relationships/image" Target="../media/image-4-7.png"/><Relationship Id="rId9" Type="http://schemas.openxmlformats.org/officeDocument/2006/relationships/image" Target="../media/image-4-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5.png"/><Relationship Id="rId6" Type="http://schemas.openxmlformats.org/officeDocument/2006/relationships/image" Target="../media/image-6-5.png"/><Relationship Id="rId7" Type="http://schemas.openxmlformats.org/officeDocument/2006/relationships/image" Target="../media/image-6-5.png"/><Relationship Id="rId8" Type="http://schemas.openxmlformats.org/officeDocument/2006/relationships/image" Target="../media/image-6-5.png"/><Relationship Id="rId9" Type="http://schemas.openxmlformats.org/officeDocument/2006/relationships/image" Target="../media/image-6-5.png"/><Relationship Id="rId10" Type="http://schemas.openxmlformats.org/officeDocument/2006/relationships/image" Target="../media/image-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image" Target="../media/image-11-2.png"/><Relationship Id="rId6" Type="http://schemas.openxmlformats.org/officeDocument/2006/relationships/image" Target="../media/image-11-6.png"/><Relationship Id="rId7" Type="http://schemas.openxmlformats.org/officeDocument/2006/relationships/image" Target="../media/image-11-2.png"/><Relationship Id="rId8" Type="http://schemas.openxmlformats.org/officeDocument/2006/relationships/image" Target="../media/image-11-2.png"/><Relationship Id="rId9" Type="http://schemas.openxmlformats.org/officeDocument/2006/relationships/image" Target="../media/image-11-2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2.png"/><Relationship Id="rId12" Type="http://schemas.openxmlformats.org/officeDocument/2006/relationships/image" Target="../media/image-11-2.png"/><Relationship Id="rId13" Type="http://schemas.openxmlformats.org/officeDocument/2006/relationships/image" Target="../media/image-11-2.png"/><Relationship Id="rId14" Type="http://schemas.openxmlformats.org/officeDocument/2006/relationships/image" Target="../media/image-11-2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12064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5504688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5888736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0076688" y="512064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0076688" y="5504688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10076688" y="5888736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0460736" y="512064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0460736" y="5504688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0460736" y="5888736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0844784" y="512064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44784" y="5504688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44784" y="5888736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28832" y="512064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28832" y="5504688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28832" y="5888736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PORTFOLIO PROJECT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182880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Business Analytics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4600" dirty="0"/>
          </a:p>
        </p:txBody>
      </p:sp>
      <p:sp>
        <p:nvSpPr>
          <p:cNvPr id="19" name="Shape 17"/>
          <p:cNvSpPr/>
          <p:nvPr/>
        </p:nvSpPr>
        <p:spPr>
          <a:xfrm>
            <a:off x="841248" y="3611880"/>
            <a:ext cx="100584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794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|  Data Analysis  |  Business Intelligence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2519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6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“Transforming sales data into actionable business insights.”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5212080"/>
            <a:ext cx="2514600" cy="777240"/>
          </a:xfrm>
          <a:prstGeom prst="roundRect">
            <a:avLst>
              <a:gd name="adj" fmla="val 14118"/>
            </a:avLst>
          </a:prstGeom>
          <a:solidFill>
            <a:srgbClr val="13294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" y="53675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0" descr="/home/claude/ppt/icons/bar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5426964"/>
            <a:ext cx="338328" cy="33832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536192" y="5212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566160" y="5212080"/>
            <a:ext cx="2514600" cy="777240"/>
          </a:xfrm>
          <a:prstGeom prst="roundRect">
            <a:avLst>
              <a:gd name="adj" fmla="val 14118"/>
            </a:avLst>
          </a:prstGeom>
          <a:solidFill>
            <a:srgbClr val="13294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730752" y="53675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1" descr="/home/claude/ppt/icons/trend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188" y="5426964"/>
            <a:ext cx="338328" cy="338328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4279392" y="5212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309360" y="5212080"/>
            <a:ext cx="2514600" cy="777240"/>
          </a:xfrm>
          <a:prstGeom prst="roundRect">
            <a:avLst>
              <a:gd name="adj" fmla="val 14118"/>
            </a:avLst>
          </a:prstGeom>
          <a:solidFill>
            <a:srgbClr val="13294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473952" y="53675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2" descr="/home/claude/ppt/icons/targ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5426964"/>
            <a:ext cx="338328" cy="338328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022592" y="5212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532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uses historical sales and order data to build a centralized Power BI dashboard that consolidates revenue, cost, profitability, and volume metrics into a single, interactive view. Rather than reviewing scattered spreadsheet totals, stakeholders can explore performance across products, regions, and sales channels in real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/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20" y="3220060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56032" y="3703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993392" y="3154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ppt/icons/trend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772" y="322006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00784" y="3703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438144" y="3154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ppt/icons/packa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524" y="3220060"/>
            <a:ext cx="372161" cy="37216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145536" y="3703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882896" y="3154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3" descr="/home/claude/ppt/icons/shoppingba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276" y="3220060"/>
            <a:ext cx="372161" cy="37216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590288" y="3703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/home/claude/ppt/icons/bar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20" y="4271620"/>
            <a:ext cx="372161" cy="372161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56032" y="4754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1993392" y="4206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5" descr="/home/claude/ppt/icons/mappi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8772" y="4271620"/>
            <a:ext cx="372161" cy="372161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700784" y="4754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3438144" y="4206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6" descr="/home/claude/ppt/icons/slider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3524" y="4271620"/>
            <a:ext cx="372161" cy="372161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3145536" y="4754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 Performance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4882896" y="4206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7" descr="/home/claude/ppt/icons/cloc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8276" y="4271620"/>
            <a:ext cx="372161" cy="372161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4590288" y="4754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Trends</a:t>
            </a:r>
            <a:endParaRPr lang="en-US" sz="1050" dirty="0"/>
          </a:p>
        </p:txBody>
      </p:sp>
      <p:sp>
        <p:nvSpPr>
          <p:cNvPr id="29" name="Shape 19"/>
          <p:cNvSpPr/>
          <p:nvPr/>
        </p:nvSpPr>
        <p:spPr>
          <a:xfrm>
            <a:off x="6309360" y="137160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0B1F3A"/>
          </a:solidFill>
          <a:ln/>
        </p:spPr>
      </p:sp>
      <p:sp>
        <p:nvSpPr>
          <p:cNvPr id="30" name="Text 20"/>
          <p:cNvSpPr txBox="1"/>
          <p:nvPr/>
        </p:nvSpPr>
        <p:spPr>
          <a:xfrm>
            <a:off x="6629400" y="1600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POWER BI ADDS VALUE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6629400" y="205740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13294B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6629400" y="205740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Sales Data</a:t>
            </a:r>
            <a:endParaRPr lang="en-US" sz="1300" dirty="0"/>
          </a:p>
        </p:txBody>
      </p:sp>
      <p:pic>
        <p:nvPicPr>
          <p:cNvPr id="33" name="Image 8" descr="/home/claude/ppt/icons/arrow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805672" y="2624328"/>
            <a:ext cx="274320" cy="274320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6629400" y="274320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13294B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5" name="Text 24"/>
          <p:cNvSpPr txBox="1"/>
          <p:nvPr/>
        </p:nvSpPr>
        <p:spPr>
          <a:xfrm>
            <a:off x="6629400" y="274320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pic>
        <p:nvPicPr>
          <p:cNvPr id="36" name="Image 9" descr="/home/claude/ppt/icons/arrow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805672" y="3310128"/>
            <a:ext cx="274320" cy="274320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6629400" y="342900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13294B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8" name="Text 26"/>
          <p:cNvSpPr txBox="1"/>
          <p:nvPr/>
        </p:nvSpPr>
        <p:spPr>
          <a:xfrm>
            <a:off x="6629400" y="342900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Analysis</a:t>
            </a:r>
            <a:endParaRPr lang="en-US" sz="1300" dirty="0"/>
          </a:p>
        </p:txBody>
      </p:sp>
      <p:pic>
        <p:nvPicPr>
          <p:cNvPr id="39" name="Image 10" descr="/home/claude/ppt/icons/arrow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8805672" y="3995928"/>
            <a:ext cx="274320" cy="274320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6629400" y="411480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13294B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41" name="Text 28"/>
          <p:cNvSpPr txBox="1"/>
          <p:nvPr/>
        </p:nvSpPr>
        <p:spPr>
          <a:xfrm>
            <a:off x="6629400" y="411480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300" dirty="0"/>
          </a:p>
        </p:txBody>
      </p:sp>
      <p:pic>
        <p:nvPicPr>
          <p:cNvPr id="42" name="Image 11" descr="/home/claude/ppt/icons/arrow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8805672" y="4681728"/>
            <a:ext cx="274320" cy="274320"/>
          </a:xfrm>
          <a:prstGeom prst="rect">
            <a:avLst/>
          </a:prstGeom>
        </p:spPr>
      </p:pic>
      <p:sp>
        <p:nvSpPr>
          <p:cNvPr id="43" name="Shape 29"/>
          <p:cNvSpPr/>
          <p:nvPr/>
        </p:nvSpPr>
        <p:spPr>
          <a:xfrm>
            <a:off x="6629400" y="480060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2A541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44" name="Text 30"/>
          <p:cNvSpPr txBox="1"/>
          <p:nvPr/>
        </p:nvSpPr>
        <p:spPr>
          <a:xfrm>
            <a:off x="6629400" y="480060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300" dirty="0"/>
          </a:p>
        </p:txBody>
      </p:sp>
      <p:sp>
        <p:nvSpPr>
          <p:cNvPr id="45" name="Text 31"/>
          <p:cNvSpPr txBox="1"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BUSINESS ANALYTICS DASHBOARD</a:t>
            </a:r>
            <a:endParaRPr lang="en-US" sz="900" dirty="0"/>
          </a:p>
        </p:txBody>
      </p:sp>
      <p:sp>
        <p:nvSpPr>
          <p:cNvPr id="46" name="Text 32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  <p:sp>
        <p:nvSpPr>
          <p:cNvPr id="47" name="Shape 33"/>
          <p:cNvSpPr/>
          <p:nvPr/>
        </p:nvSpPr>
        <p:spPr>
          <a:xfrm>
            <a:off x="457200" y="6437376"/>
            <a:ext cx="11277295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18027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916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Sales &amp; Profitability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overall revenue, cost and profit performance in one view.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/icons/mapp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660" y="180274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6916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Regional Performance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377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revenue and profit across countries and regions.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ppt/icons/packa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700" y="180274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5400" y="16916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Item Type Performance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377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high- and low-performing item types by profit.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4747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703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ppt/icons/slid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20" y="376870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36576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Channels &amp; Priorities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343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sales channels and order priority contribution.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4747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3703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ppt/icons/clo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660" y="3768700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66360" y="36576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Trends Over Time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343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how cost, revenue and profit move year over year.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4747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3703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ppt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0700" y="3768700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15400" y="36576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Decisions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4343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faster, data-driven business decision making.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BUSINESS ANALYTICS DASHBOARD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457200" y="6437376"/>
            <a:ext cx="11277295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centralized view, raw sales data makes it difficult to: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29184" cy="329184"/>
          </a:xfrm>
          <a:prstGeom prst="ellipse">
            <a:avLst/>
          </a:prstGeom>
          <a:solidFill>
            <a:srgbClr val="C0504D"/>
          </a:solidFill>
          <a:ln/>
        </p:spPr>
      </p:sp>
      <p:pic>
        <p:nvPicPr>
          <p:cNvPr id="6" name="Image 0" descr="/home/claude/ppt/icons/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917314"/>
            <a:ext cx="243596" cy="2435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184708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identify the most profitable item types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404872"/>
            <a:ext cx="329184" cy="329184"/>
          </a:xfrm>
          <a:prstGeom prst="ellipse">
            <a:avLst/>
          </a:prstGeom>
          <a:solidFill>
            <a:srgbClr val="C0504D"/>
          </a:solidFill>
          <a:ln/>
        </p:spPr>
      </p:sp>
      <p:pic>
        <p:nvPicPr>
          <p:cNvPr id="9" name="Image 1" descr="/home/claude/ppt/icons/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447666"/>
            <a:ext cx="243596" cy="2435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5840" y="23774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across regions and countries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2935224"/>
            <a:ext cx="329184" cy="329184"/>
          </a:xfrm>
          <a:prstGeom prst="ellipse">
            <a:avLst/>
          </a:prstGeom>
          <a:solidFill>
            <a:srgbClr val="C0504D"/>
          </a:solidFill>
          <a:ln/>
        </p:spPr>
      </p:sp>
      <p:pic>
        <p:nvPicPr>
          <p:cNvPr id="12" name="Image 2" descr="/home/claude/ppt/icons/ale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2978018"/>
            <a:ext cx="243596" cy="2435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05840" y="29077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each sales channel's contribution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465576"/>
            <a:ext cx="329184" cy="329184"/>
          </a:xfrm>
          <a:prstGeom prst="ellipse">
            <a:avLst/>
          </a:prstGeom>
          <a:solidFill>
            <a:srgbClr val="C0504D"/>
          </a:solidFill>
          <a:ln/>
        </p:spPr>
      </p:sp>
      <p:pic>
        <p:nvPicPr>
          <p:cNvPr id="15" name="Image 3" descr="/home/claude/ppt/icons/ale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4" y="3508370"/>
            <a:ext cx="243596" cy="24359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05840" y="34381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revenue and profit trends over time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8640" y="3995928"/>
            <a:ext cx="329184" cy="329184"/>
          </a:xfrm>
          <a:prstGeom prst="ellipse">
            <a:avLst/>
          </a:prstGeom>
          <a:solidFill>
            <a:srgbClr val="C0504D"/>
          </a:solidFill>
          <a:ln/>
        </p:spPr>
      </p:sp>
      <p:pic>
        <p:nvPicPr>
          <p:cNvPr id="18" name="Image 4" descr="/home/claude/ppt/icons/ale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34" y="4038722"/>
            <a:ext cx="243596" cy="24359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05840" y="39684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areas that need business attention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548640" y="4526280"/>
            <a:ext cx="329184" cy="329184"/>
          </a:xfrm>
          <a:prstGeom prst="ellipse">
            <a:avLst/>
          </a:prstGeom>
          <a:solidFill>
            <a:srgbClr val="C0504D"/>
          </a:solidFill>
          <a:ln/>
        </p:spPr>
      </p:sp>
      <p:pic>
        <p:nvPicPr>
          <p:cNvPr id="21" name="Image 5" descr="/home/claude/ppt/icons/aler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434" y="4569074"/>
            <a:ext cx="243596" cy="24359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05840" y="44988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decisions from scattered spreadsheet data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6309360" y="14173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1F3A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6629400" y="1645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6629400" y="2148840"/>
            <a:ext cx="470916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6629400" y="214884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400" dirty="0"/>
          </a:p>
        </p:txBody>
      </p:sp>
      <p:pic>
        <p:nvPicPr>
          <p:cNvPr id="27" name="Image 6" descr="/home/claude/ppt/icons/arrow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805672" y="2807208"/>
            <a:ext cx="274320" cy="237744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629400" y="2953512"/>
            <a:ext cx="470916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6629400" y="2953512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KPIs</a:t>
            </a:r>
            <a:endParaRPr lang="en-US" sz="1400" dirty="0"/>
          </a:p>
        </p:txBody>
      </p:sp>
      <p:pic>
        <p:nvPicPr>
          <p:cNvPr id="30" name="Image 7" descr="/home/claude/ppt/icons/arrow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805672" y="3611880"/>
            <a:ext cx="274320" cy="237744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6629400" y="3758184"/>
            <a:ext cx="470916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6629400" y="3758184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Analysis</a:t>
            </a:r>
            <a:endParaRPr lang="en-US" sz="1400" dirty="0"/>
          </a:p>
        </p:txBody>
      </p:sp>
      <p:pic>
        <p:nvPicPr>
          <p:cNvPr id="33" name="Image 8" descr="/home/claude/ppt/icons/arrow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805672" y="4416552"/>
            <a:ext cx="274320" cy="237744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6629400" y="4562856"/>
            <a:ext cx="4709160" cy="658368"/>
          </a:xfrm>
          <a:prstGeom prst="roundRect">
            <a:avLst>
              <a:gd name="adj" fmla="val 11111"/>
            </a:avLst>
          </a:prstGeom>
          <a:solidFill>
            <a:srgbClr val="F2A541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5" name="Text 24"/>
          <p:cNvSpPr txBox="1"/>
          <p:nvPr/>
        </p:nvSpPr>
        <p:spPr>
          <a:xfrm>
            <a:off x="6629400" y="456285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 Making</a:t>
            </a:r>
            <a:endParaRPr lang="en-US" sz="1400" dirty="0"/>
          </a:p>
        </p:txBody>
      </p:sp>
      <p:sp>
        <p:nvSpPr>
          <p:cNvPr id="36" name="Text 25"/>
          <p:cNvSpPr txBox="1"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BUSINESS ANALYTICS DASHBOARD</a:t>
            </a:r>
            <a:endParaRPr lang="en-US" sz="900" dirty="0"/>
          </a:p>
        </p:txBody>
      </p:sp>
      <p:sp>
        <p:nvSpPr>
          <p:cNvPr id="37" name="Text 26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457200" y="6437376"/>
            <a:ext cx="11277295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7033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/icons/mapp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723644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24028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Dimensions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560320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Region, Item Type, Rep Name, Sales Channel, Order Priority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434840" y="1463040"/>
            <a:ext cx="23317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16642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/icons/calend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444" y="1723644"/>
            <a:ext cx="338328" cy="33832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36008" y="2240280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636008" y="2560320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Date, Ship Date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949440" y="1463040"/>
            <a:ext cx="23317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50608" y="16642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ppt/icons/has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044" y="1723644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50608" y="2240280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7150608" y="2560320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5943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6301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ppt/icons/doll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3689604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89888" y="3611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Metrics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1389888" y="395935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Cost, Total Revenue, Total Profit, Unit Cost, Unit Price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675120" y="34290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876288" y="36301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ppt/icons/packag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5724" y="3689604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516368" y="3611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7516368" y="395935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48640" y="5623560"/>
            <a:ext cx="11109960" cy="502920"/>
          </a:xfrm>
          <a:prstGeom prst="roundRect">
            <a:avLst>
              <a:gd name="adj" fmla="val 14545"/>
            </a:avLst>
          </a:prstGeom>
          <a:solidFill>
            <a:srgbClr val="0B1F3A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548640" y="562356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 +  Products  +  Sales Channels  +  Time  +  Financial Performance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DASHBOARD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 &amp; Preparation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Dataset</a:t>
            </a:r>
            <a:endParaRPr lang="en-US" sz="1350" dirty="0"/>
          </a:p>
        </p:txBody>
      </p:sp>
      <p:pic>
        <p:nvPicPr>
          <p:cNvPr id="6" name="Image 0" descr="/home/claude/ppt/icons/arrow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3017520" y="2130552"/>
            <a:ext cx="256032" cy="219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267712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267712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Transformation</a:t>
            </a:r>
            <a:endParaRPr lang="en-US" sz="1350" dirty="0"/>
          </a:p>
        </p:txBody>
      </p:sp>
      <p:pic>
        <p:nvPicPr>
          <p:cNvPr id="9" name="Image 1" descr="/home/claude/ppt/icons/arr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017520" y="2889504"/>
            <a:ext cx="256032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026664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48640" y="302666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Data Model</a:t>
            </a:r>
            <a:endParaRPr lang="en-US" sz="1350" dirty="0"/>
          </a:p>
        </p:txBody>
      </p:sp>
      <p:pic>
        <p:nvPicPr>
          <p:cNvPr id="12" name="Image 2" descr="/home/claude/ppt/icons/arrow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017520" y="3648456"/>
            <a:ext cx="256032" cy="21945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8640" y="3785616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548640" y="3785616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/ KPIs (DAX)</a:t>
            </a:r>
            <a:endParaRPr lang="en-US" sz="1350" dirty="0"/>
          </a:p>
        </p:txBody>
      </p:sp>
      <p:pic>
        <p:nvPicPr>
          <p:cNvPr id="15" name="Image 3" descr="/home/claude/ppt/icons/arrow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017520" y="4407408"/>
            <a:ext cx="256032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48640" y="4544568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F2A541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548640" y="454456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626364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ACTIVITIES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263640" y="187452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4" descr="/home/claude/ppt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811" y="1919691"/>
            <a:ext cx="257129" cy="257129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720840" y="185623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missing values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6263640" y="2404872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5" descr="/home/claude/ppt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8811" y="2450043"/>
            <a:ext cx="257129" cy="257129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720840" y="238658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records where applicable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6263640" y="293522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6" descr="/home/claude/ppt/icons/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8811" y="2980395"/>
            <a:ext cx="257129" cy="257129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720840" y="291693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and standardized data types</a:t>
            </a:r>
            <a:endParaRPr lang="en-US" sz="1250" dirty="0"/>
          </a:p>
        </p:txBody>
      </p:sp>
      <p:sp>
        <p:nvSpPr>
          <p:cNvPr id="28" name="Shape 19"/>
          <p:cNvSpPr/>
          <p:nvPr/>
        </p:nvSpPr>
        <p:spPr>
          <a:xfrm>
            <a:off x="6263640" y="3465576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7" descr="/home/claude/ppt/icons/chec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8811" y="3510747"/>
            <a:ext cx="257129" cy="257129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720840" y="344728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Order Date and Ship Date fields</a:t>
            </a:r>
            <a:endParaRPr lang="en-US" sz="1250" dirty="0"/>
          </a:p>
        </p:txBody>
      </p:sp>
      <p:sp>
        <p:nvSpPr>
          <p:cNvPr id="31" name="Shape 21"/>
          <p:cNvSpPr/>
          <p:nvPr/>
        </p:nvSpPr>
        <p:spPr>
          <a:xfrm>
            <a:off x="6263640" y="3995928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8" descr="/home/claude/ppt/icons/check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8811" y="4041099"/>
            <a:ext cx="257129" cy="257129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6720840" y="397764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numeric financial fields</a:t>
            </a:r>
            <a:endParaRPr lang="en-US" sz="1250" dirty="0"/>
          </a:p>
        </p:txBody>
      </p:sp>
      <p:sp>
        <p:nvSpPr>
          <p:cNvPr id="34" name="Shape 23"/>
          <p:cNvSpPr/>
          <p:nvPr/>
        </p:nvSpPr>
        <p:spPr>
          <a:xfrm>
            <a:off x="6263640" y="452628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9" descr="/home/claude/ppt/icons/check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8811" y="4571451"/>
            <a:ext cx="257129" cy="257129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6720840" y="450799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calculated measures and KPIs</a:t>
            </a:r>
            <a:endParaRPr lang="en-US" sz="1250" dirty="0"/>
          </a:p>
        </p:txBody>
      </p:sp>
      <p:sp>
        <p:nvSpPr>
          <p:cNvPr id="37" name="Shape 25"/>
          <p:cNvSpPr/>
          <p:nvPr/>
        </p:nvSpPr>
        <p:spPr>
          <a:xfrm>
            <a:off x="6263640" y="51663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5EF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8" name="Text 26"/>
          <p:cNvSpPr txBox="1"/>
          <p:nvPr/>
        </p:nvSpPr>
        <p:spPr>
          <a:xfrm>
            <a:off x="6492240" y="52578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single flat sales table using Power BI's native modeling and DAX measures — no external ETL pipeline or multi-table schema was required for this analysis.</a:t>
            </a:r>
            <a:endParaRPr lang="en-US" sz="1000" dirty="0"/>
          </a:p>
        </p:txBody>
      </p:sp>
      <p:sp>
        <p:nvSpPr>
          <p:cNvPr id="39" name="Text 27"/>
          <p:cNvSpPr txBox="1"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BUSINESS ANALYTICS DASHBOARD</a:t>
            </a:r>
            <a:endParaRPr lang="en-US" sz="900" dirty="0"/>
          </a:p>
        </p:txBody>
      </p:sp>
      <p:sp>
        <p:nvSpPr>
          <p:cNvPr id="40" name="Text 28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  <p:sp>
        <p:nvSpPr>
          <p:cNvPr id="41" name="Shape 29"/>
          <p:cNvSpPr/>
          <p:nvPr/>
        </p:nvSpPr>
        <p:spPr>
          <a:xfrm>
            <a:off x="457200" y="6437376"/>
            <a:ext cx="11277295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BI dashboard brings KPI summaries, trend analysis, and comparative breakdowns together on a single screen, with a Year slicer that lets users filter every visual interactively.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24028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ppt/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867" y="2297339"/>
            <a:ext cx="324795" cy="3247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2219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 Cards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8346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 count, Total Cost, Total Profit and Total Revenue at a glance.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7680" y="20574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8848" y="224028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ppt/icons/bar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907" y="2297339"/>
            <a:ext cx="324795" cy="3247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74920" y="22219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Item Type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498848" y="28346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bar chart of total profit across all item types.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046720" y="20574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47888" y="224028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ppt/icons/trendu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947" y="2297339"/>
            <a:ext cx="324795" cy="3247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23960" y="22219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Profit, Cost &amp; Order Trend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247888" y="28346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line chart comparing four metrics across item types.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9808" y="402336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/home/claude/ppt/icons/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67" y="4080419"/>
            <a:ext cx="324795" cy="3247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25880" y="40050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Trend by Year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749808" y="46177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tracking total cost from 2010 through 2017, with forecast.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297680" y="38404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98848" y="402336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4" descr="/home/claude/ppt/icons/pi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5907" y="4080419"/>
            <a:ext cx="324795" cy="32479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074920" y="40050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Sales Channel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4498848" y="46177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splitting total profit between Offline and Online.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046720" y="38404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47888" y="402336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5" descr="/home/claude/ppt/icons/filt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4947" y="4080419"/>
            <a:ext cx="324795" cy="32479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823960" y="40050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Filter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8247888" y="46177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 (2010–2017) to filter the full dashboard.</a:t>
            </a:r>
            <a:endParaRPr lang="en-US" sz="950" dirty="0"/>
          </a:p>
        </p:txBody>
      </p:sp>
      <p:sp>
        <p:nvSpPr>
          <p:cNvPr id="35" name="Text 27"/>
          <p:cNvSpPr txBox="1"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BUSINESS ANALYTICS DASHBOARD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457200" y="6437376"/>
            <a:ext cx="11277295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673456" y="704088"/>
            <a:ext cx="9838944" cy="5655661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0000"/>
              </a:srgbClr>
            </a:outerShdw>
          </a:effectLst>
        </p:spPr>
      </p:sp>
      <p:pic>
        <p:nvPicPr>
          <p:cNvPr id="4" name="Image 0" descr="/home/claude/ppt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777240"/>
            <a:ext cx="9692640" cy="55093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561320" y="96012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3294B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625328" y="960120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561320" y="192024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3294B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625328" y="1920240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Type Profit Ranking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0561320" y="288036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3294B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625328" y="2880360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/ Profit / Cost Trend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0561320" y="384048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3294B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625328" y="3840480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Trend by Year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0561320" y="480060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3294B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625328" y="4800600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Sales Channel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746608" y="6423757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Year Slicer (2010–2017)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1.33bn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91840" y="1417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391.20M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35040" y="1417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936.12M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778240" y="13716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78240" y="1417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C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27889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0" descr="/home/claude/ppt/icons/aw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724" y="2842412"/>
            <a:ext cx="304495" cy="30449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234440" y="27157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leads profitability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302666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generates the highest total profit of any item type, followed by Household and Office Supplies — these three categories anchor overall profitability.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17920" y="2606040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C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82512" y="27889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1" descr="/home/claude/ppt/icons/bar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004" y="2842412"/>
            <a:ext cx="304495" cy="30449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903720" y="27157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drives the top line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6903720" y="302666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records the highest combined revenue, cost and order count among item types, making it the largest contributor to overall business volume.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48640" y="3904488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C">
                <a:alpha val="2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713232" y="4087368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2" descr="/home/claude/ppt/icons/pi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24" y="4140860"/>
            <a:ext cx="304495" cy="30449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234440" y="401421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channel leads, but Online is close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1234440" y="432511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sales contribute 53.14% of total profit (207.89M) versus 46.86% (183.32M) from Online — a fairly balanced channel mix worth monitoring.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6217920" y="3904488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C">
                <a:alpha val="2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382512" y="4087368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3" descr="/home/claude/ppt/icons/trenddow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004" y="4140860"/>
            <a:ext cx="304495" cy="30449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903720" y="401421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dropped sharply after 2016</a:t>
            </a:r>
            <a:endParaRPr lang="en-US" sz="1150" dirty="0"/>
          </a:p>
        </p:txBody>
      </p:sp>
      <p:sp>
        <p:nvSpPr>
          <p:cNvPr id="35" name="Text 29"/>
          <p:cNvSpPr txBox="1"/>
          <p:nvPr/>
        </p:nvSpPr>
        <p:spPr>
          <a:xfrm>
            <a:off x="6903720" y="432511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fell from roughly 0.11bn in 2016 to about 0.07bn in 2017, the steepest year-over-year decline in the trend, with a widening forecast range beyond it.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548640" y="5202936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C">
                <a:alpha val="2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13232" y="5385816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8" name="Image 4" descr="/home/claude/ppt/icons/trenddow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24" y="5439308"/>
            <a:ext cx="304495" cy="304495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1234440" y="53126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Fruits, Beverages &amp; Personal Care lag</a:t>
            </a:r>
            <a:endParaRPr lang="en-US" sz="1150" dirty="0"/>
          </a:p>
        </p:txBody>
      </p:sp>
      <p:sp>
        <p:nvSpPr>
          <p:cNvPr id="40" name="Text 33"/>
          <p:cNvSpPr txBox="1"/>
          <p:nvPr/>
        </p:nvSpPr>
        <p:spPr>
          <a:xfrm>
            <a:off x="1234440" y="5623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item types sit at the bottom of the profit ranking, indicating limited contribution compared to top performers like Cosmetics and Household.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 INTO ACTION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C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188" y="17113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5819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top performers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58191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marketing and inventory investment in Cosmetics, Household and Office Supplies given their proven profit contribution.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C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560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88" y="262570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4963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low-profit categories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249631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pricing, cost structure and demand for Fruits, Beverages and Personal Care to identify improvement opportunities.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33756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C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474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ppt/icons/slid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88" y="354010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4107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sales channel strategy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709160" y="341071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Offline at 53% and Online at 47% of profit, evaluate whether targeted investment can grow the Online channel's share.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25196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C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389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ppt/icons/doll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88" y="445450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43251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cost and margin closely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4709160" y="432511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cost trend that dropped sharply after 2016 to confirm it reflects efficiency gains rather than a data or volume issue.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516636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C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5303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ppt/icons/refres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188" y="5368900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52395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regular Power BI reporting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4709160" y="523951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dashboard as a recurring reporting cadence so performance shifts are caught early and decisions stay data-driven.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BUSINESS ANALYTICS DASHBOARD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57200" y="6437376"/>
            <a:ext cx="11277295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Skills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178308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/home/claude/ppt/icons/bar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0834" y="1872234"/>
            <a:ext cx="507492" cy="5074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060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828800" y="3063240"/>
            <a:ext cx="10515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pic>
        <p:nvPicPr>
          <p:cNvPr id="9" name="Image 1" descr="/home/claude/ppt/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1012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07008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150" dirty="0"/>
          </a:p>
        </p:txBody>
      </p:sp>
      <p:pic>
        <p:nvPicPr>
          <p:cNvPr id="11" name="Image 2" descr="/home/claude/ppt/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673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07008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50" dirty="0"/>
          </a:p>
        </p:txBody>
      </p:sp>
      <p:pic>
        <p:nvPicPr>
          <p:cNvPr id="13" name="Image 3" descr="/home/claude/ppt/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24528"/>
            <a:ext cx="201168" cy="2011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07008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Development</a:t>
            </a:r>
            <a:endParaRPr lang="en-US" sz="1150" dirty="0"/>
          </a:p>
        </p:txBody>
      </p:sp>
      <p:pic>
        <p:nvPicPr>
          <p:cNvPr id="15" name="Image 4" descr="/home/claude/ppt/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681728"/>
            <a:ext cx="201168" cy="20116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07008" y="4617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 / Slicers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4343400" y="150876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2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5806440" y="178308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9" name="Image 5" descr="/home/claude/ppt/icons/cod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5594" y="1872234"/>
            <a:ext cx="507492" cy="50749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4343400" y="26060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</a:t>
            </a:r>
            <a:endParaRPr lang="en-US" sz="1800" dirty="0"/>
          </a:p>
        </p:txBody>
      </p:sp>
      <p:sp>
        <p:nvSpPr>
          <p:cNvPr id="21" name="Shape 13"/>
          <p:cNvSpPr/>
          <p:nvPr/>
        </p:nvSpPr>
        <p:spPr>
          <a:xfrm>
            <a:off x="5623560" y="3063240"/>
            <a:ext cx="10515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pic>
        <p:nvPicPr>
          <p:cNvPr id="22" name="Image 6" descr="/home/claude/ppt/icons/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3310128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001768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150" dirty="0"/>
          </a:p>
        </p:txBody>
      </p:sp>
      <p:pic>
        <p:nvPicPr>
          <p:cNvPr id="24" name="Image 7" descr="/home/claude/ppt/icons/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3767328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5001768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Metrics</a:t>
            </a:r>
            <a:endParaRPr lang="en-US" sz="1150" dirty="0"/>
          </a:p>
        </p:txBody>
      </p:sp>
      <p:pic>
        <p:nvPicPr>
          <p:cNvPr id="26" name="Image 8" descr="/home/claude/ppt/icons/check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4224528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5001768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KPIs</a:t>
            </a:r>
            <a:endParaRPr lang="en-US" sz="1150" dirty="0"/>
          </a:p>
        </p:txBody>
      </p:sp>
      <p:sp>
        <p:nvSpPr>
          <p:cNvPr id="28" name="Shape 17"/>
          <p:cNvSpPr/>
          <p:nvPr/>
        </p:nvSpPr>
        <p:spPr>
          <a:xfrm>
            <a:off x="8138160" y="150876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2000"/>
              </a:srgbClr>
            </a:outerShdw>
          </a:effectLst>
        </p:spPr>
      </p:sp>
      <p:sp>
        <p:nvSpPr>
          <p:cNvPr id="29" name="Shape 18"/>
          <p:cNvSpPr/>
          <p:nvPr/>
        </p:nvSpPr>
        <p:spPr>
          <a:xfrm>
            <a:off x="9601200" y="178308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0" name="Image 9" descr="/home/claude/ppt/icons/trendup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0354" y="1872234"/>
            <a:ext cx="507492" cy="507492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8138160" y="26060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1800" dirty="0"/>
          </a:p>
        </p:txBody>
      </p:sp>
      <p:sp>
        <p:nvSpPr>
          <p:cNvPr id="32" name="Shape 20"/>
          <p:cNvSpPr/>
          <p:nvPr/>
        </p:nvSpPr>
        <p:spPr>
          <a:xfrm>
            <a:off x="9418320" y="3063240"/>
            <a:ext cx="10515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pic>
        <p:nvPicPr>
          <p:cNvPr id="33" name="Image 10" descr="/home/claude/ppt/icons/check_te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3920" y="3310128"/>
            <a:ext cx="201168" cy="201168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8796528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150" dirty="0"/>
          </a:p>
        </p:txBody>
      </p:sp>
      <p:pic>
        <p:nvPicPr>
          <p:cNvPr id="35" name="Image 11" descr="/home/claude/ppt/icons/check_tea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3920" y="3767328"/>
            <a:ext cx="201168" cy="201168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8796528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1150" dirty="0"/>
          </a:p>
        </p:txBody>
      </p:sp>
      <p:pic>
        <p:nvPicPr>
          <p:cNvPr id="37" name="Image 12" descr="/home/claude/ppt/icons/check_teal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03920" y="4224528"/>
            <a:ext cx="201168" cy="201168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8796528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Analysis</a:t>
            </a:r>
            <a:endParaRPr lang="en-US" sz="1150" dirty="0"/>
          </a:p>
        </p:txBody>
      </p:sp>
      <p:pic>
        <p:nvPicPr>
          <p:cNvPr id="39" name="Image 13" descr="/home/claude/ppt/icons/check_tea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03920" y="4681728"/>
            <a:ext cx="201168" cy="201168"/>
          </a:xfrm>
          <a:prstGeom prst="rect">
            <a:avLst/>
          </a:prstGeom>
        </p:spPr>
      </p:pic>
      <p:sp>
        <p:nvSpPr>
          <p:cNvPr id="40" name="Text 24"/>
          <p:cNvSpPr txBox="1"/>
          <p:nvPr/>
        </p:nvSpPr>
        <p:spPr>
          <a:xfrm>
            <a:off x="8796528" y="4617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150" dirty="0"/>
          </a:p>
        </p:txBody>
      </p:sp>
      <p:sp>
        <p:nvSpPr>
          <p:cNvPr id="41" name="Text 25"/>
          <p:cNvSpPr txBox="1"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BUSINESS ANALYTICS DASHBOARD</a:t>
            </a:r>
            <a:endParaRPr lang="en-US" sz="900" dirty="0"/>
          </a:p>
        </p:txBody>
      </p:sp>
      <p:sp>
        <p:nvSpPr>
          <p:cNvPr id="42" name="Text 26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43" name="Shape 27"/>
          <p:cNvSpPr/>
          <p:nvPr/>
        </p:nvSpPr>
        <p:spPr>
          <a:xfrm>
            <a:off x="457200" y="6437376"/>
            <a:ext cx="11277295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Data, Transformed Into Insight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Power BI can transform raw sales data into a centralized analytical solution — turning scattered numbers into a clear, explorable story for the business.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656" y="2555016"/>
            <a:ext cx="230063" cy="23006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07008" y="24871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visibility into overall sales performance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" y="297180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ppt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56" y="3012216"/>
            <a:ext cx="230063" cy="23006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07008" y="29443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understanding of revenue and profitability drivers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77240" y="342900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ppt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56" y="3469416"/>
            <a:ext cx="230063" cy="23006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34015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comparison across products, regions and channels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77240" y="388620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3" descr="/home/claude/ppt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56" y="3926616"/>
            <a:ext cx="230063" cy="23006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07008" y="38587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self-serve business analysis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77240" y="434340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/home/claude/ppt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656" y="4383816"/>
            <a:ext cx="230063" cy="23006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207008" y="43159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support for data-driven decisions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777240" y="5120640"/>
            <a:ext cx="10607040" cy="822960"/>
          </a:xfrm>
          <a:prstGeom prst="roundRect">
            <a:avLst>
              <a:gd name="adj" fmla="val 8889"/>
            </a:avLst>
          </a:prstGeom>
          <a:solidFill>
            <a:srgbClr val="13294B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1051560" y="5120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dashboard transforms raw sales data into clear, actionable business insights.”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777240" y="6172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2026-09-05T08:02:16Z</dcterms:created>
  <dcterms:modified xsi:type="dcterms:W3CDTF">2026-09-05T08:02:16Z</dcterms:modified>
</cp:coreProperties>
</file>